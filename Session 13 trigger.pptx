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Montserrat Black"/>
      <p:bold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  <p:embeddedFont>
      <p:font typeface="Bitter Medium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953GyraFB/PhMXYEFkNDz14nC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22" Type="http://schemas.openxmlformats.org/officeDocument/2006/relationships/font" Target="fonts/MontserratMedium-boldItalic.fntdata"/><Relationship Id="rId21" Type="http://schemas.openxmlformats.org/officeDocument/2006/relationships/font" Target="fonts/MontserratMedium-italic.fntdata"/><Relationship Id="rId24" Type="http://schemas.openxmlformats.org/officeDocument/2006/relationships/font" Target="fonts/MontserratExtraBold-boldItalic.fntdata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itterMedium-bold.fntdata"/><Relationship Id="rId25" Type="http://schemas.openxmlformats.org/officeDocument/2006/relationships/font" Target="fonts/BitterMedium-regular.fntdata"/><Relationship Id="rId28" Type="http://schemas.openxmlformats.org/officeDocument/2006/relationships/font" Target="fonts/BitterMedium-boldItalic.fntdata"/><Relationship Id="rId27" Type="http://schemas.openxmlformats.org/officeDocument/2006/relationships/font" Target="fonts/Bitter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OpenSans-boldItalic.fntdata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MontserratBlack-bold.fntdata"/><Relationship Id="rId16" Type="http://schemas.openxmlformats.org/officeDocument/2006/relationships/font" Target="fonts/Montserrat-boldItalic.fntdata"/><Relationship Id="rId19" Type="http://schemas.openxmlformats.org/officeDocument/2006/relationships/font" Target="fonts/MontserratMedium-regular.fntdata"/><Relationship Id="rId18" Type="http://schemas.openxmlformats.org/officeDocument/2006/relationships/font" Target="fonts/MontserratBlac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bb26f517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11bb26f517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bac9ab7f9_1_6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11bac9ab7f9_1_6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4"/>
          <p:cNvSpPr txBox="1"/>
          <p:nvPr>
            <p:ph type="ctrTitle"/>
          </p:nvPr>
        </p:nvSpPr>
        <p:spPr>
          <a:xfrm>
            <a:off x="1697669" y="3351966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  <a:defRPr sz="4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1" type="subTitle"/>
          </p:nvPr>
        </p:nvSpPr>
        <p:spPr>
          <a:xfrm>
            <a:off x="1697669" y="4071966"/>
            <a:ext cx="504179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2800"/>
              <a:buNone/>
              <a:defRPr>
                <a:solidFill>
                  <a:srgbClr val="AEABAB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pic>
        <p:nvPicPr>
          <p:cNvPr id="20" name="Google Shape;2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9810" y="1223962"/>
            <a:ext cx="44386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4"/>
          <p:cNvSpPr/>
          <p:nvPr/>
        </p:nvSpPr>
        <p:spPr>
          <a:xfrm rot="5400000">
            <a:off x="-307571" y="2821864"/>
            <a:ext cx="1446414" cy="831272"/>
          </a:xfrm>
          <a:prstGeom prst="triangle">
            <a:avLst>
              <a:gd fmla="val 50000" name="adj"/>
            </a:avLst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34"/>
          <p:cNvSpPr txBox="1"/>
          <p:nvPr>
            <p:ph idx="2" type="body"/>
          </p:nvPr>
        </p:nvSpPr>
        <p:spPr>
          <a:xfrm>
            <a:off x="1562203" y="1974293"/>
            <a:ext cx="29785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  <a:defRPr b="0" sz="96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23" name="Google Shape;2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5325" y="5268225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/>
          <p:nvPr>
            <p:ph type="title"/>
          </p:nvPr>
        </p:nvSpPr>
        <p:spPr>
          <a:xfrm rot="5400000">
            <a:off x="-1225840" y="1040275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b="1" sz="6000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2"/>
          <p:cNvSpPr txBox="1"/>
          <p:nvPr>
            <p:ph idx="1" type="body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2" type="body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3" type="body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4" type="body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5" type="body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6" type="body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7" type="body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2"/>
          <p:cNvSpPr txBox="1"/>
          <p:nvPr>
            <p:ph idx="8" type="body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9" type="body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3" type="body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4" type="body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5" type="body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9" name="Google Shape;3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5"/>
          <p:cNvSpPr txBox="1"/>
          <p:nvPr>
            <p:ph idx="12" type="sldNum"/>
          </p:nvPr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45"/>
          <p:cNvSpPr txBox="1"/>
          <p:nvPr>
            <p:ph idx="1" type="body"/>
          </p:nvPr>
        </p:nvSpPr>
        <p:spPr>
          <a:xfrm>
            <a:off x="838200" y="1680599"/>
            <a:ext cx="10641676" cy="5040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Courier New"/>
              <a:buChar char="o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6" name="Google Shape;4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1667" y="-83672"/>
            <a:ext cx="12640676" cy="701787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0"/>
          <p:cNvSpPr txBox="1"/>
          <p:nvPr>
            <p:ph type="ctrTitle"/>
          </p:nvPr>
        </p:nvSpPr>
        <p:spPr>
          <a:xfrm>
            <a:off x="279991" y="3969209"/>
            <a:ext cx="9144000" cy="1464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" type="subTitle"/>
          </p:nvPr>
        </p:nvSpPr>
        <p:spPr>
          <a:xfrm>
            <a:off x="279991" y="543362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51" name="Google Shape;5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2381" y="-123349"/>
            <a:ext cx="7133810" cy="709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000" y="322051"/>
            <a:ext cx="3225201" cy="15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type="title"/>
          </p:nvPr>
        </p:nvSpPr>
        <p:spPr>
          <a:xfrm>
            <a:off x="1974966" y="2521987"/>
            <a:ext cx="80763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b="1" sz="6000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5" name="Google Shape;5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1989667" y="3847550"/>
            <a:ext cx="807635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35"/>
          <p:cNvSpPr/>
          <p:nvPr/>
        </p:nvSpPr>
        <p:spPr>
          <a:xfrm rot="10800000">
            <a:off x="5289935" y="1559948"/>
            <a:ext cx="1446414" cy="831272"/>
          </a:xfrm>
          <a:prstGeom prst="triangle">
            <a:avLst>
              <a:gd fmla="val 50000" name="adj"/>
            </a:avLst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2013" y="5255650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3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>
  <p:cSld name="2_Content with Ca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idx="1" type="body"/>
          </p:nvPr>
        </p:nvSpPr>
        <p:spPr>
          <a:xfrm>
            <a:off x="3818313" y="3901864"/>
            <a:ext cx="4555374" cy="2169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67" name="Google Shape;6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37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  <a:defRPr b="0" sz="32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71" name="Google Shape;7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38200" y="3858704"/>
            <a:ext cx="28609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/>
          <p:nvPr>
            <p:ph idx="1" type="body"/>
          </p:nvPr>
        </p:nvSpPr>
        <p:spPr>
          <a:xfrm>
            <a:off x="746918" y="3882043"/>
            <a:ext cx="3816769" cy="2169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75" name="Google Shape;7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9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39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b="0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79" name="Google Shape;7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0"/>
          <p:cNvSpPr txBox="1"/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" type="subTitle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4" name="Google Shape;8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1198" y="4951700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1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1"/>
          <p:cNvSpPr txBox="1"/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" type="subTitle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96" name="Google Shape;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423" y="2015275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0713" y="0"/>
            <a:ext cx="12352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3"/>
          <p:cNvSpPr txBox="1"/>
          <p:nvPr>
            <p:ph type="title"/>
          </p:nvPr>
        </p:nvSpPr>
        <p:spPr>
          <a:xfrm rot="5400000">
            <a:off x="-1225840" y="973773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Black"/>
              <a:buNone/>
              <a:defRPr b="1" sz="60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3"/>
          <p:cNvSpPr txBox="1"/>
          <p:nvPr>
            <p:ph idx="1" type="body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2" type="body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3" type="body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4" type="body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5" type="body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3"/>
          <p:cNvSpPr txBox="1"/>
          <p:nvPr>
            <p:ph idx="6" type="body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3"/>
          <p:cNvSpPr txBox="1"/>
          <p:nvPr>
            <p:ph idx="7" type="body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3"/>
          <p:cNvSpPr txBox="1"/>
          <p:nvPr>
            <p:ph idx="8" type="body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3"/>
          <p:cNvSpPr txBox="1"/>
          <p:nvPr>
            <p:ph idx="9" type="body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3"/>
          <p:cNvSpPr txBox="1"/>
          <p:nvPr>
            <p:ph idx="13" type="body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4" type="body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15" type="body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5" name="Google Shape;11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5475" y="328227"/>
            <a:ext cx="1809802" cy="88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7"/>
          <p:cNvSpPr txBox="1"/>
          <p:nvPr>
            <p:ph idx="1" type="body"/>
          </p:nvPr>
        </p:nvSpPr>
        <p:spPr>
          <a:xfrm>
            <a:off x="838199" y="3672580"/>
            <a:ext cx="3932237" cy="140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118" name="Google Shape;11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47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b="0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2" name="Google Shape;122;p47"/>
          <p:cNvSpPr txBox="1"/>
          <p:nvPr>
            <p:ph idx="3" type="body"/>
          </p:nvPr>
        </p:nvSpPr>
        <p:spPr>
          <a:xfrm>
            <a:off x="5170488" y="1346200"/>
            <a:ext cx="6375400" cy="488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3" name="Google Shape;12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8" name="Google Shape;12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g128e061f2de_0_109"/>
          <p:cNvCxnSpPr/>
          <p:nvPr/>
        </p:nvCxnSpPr>
        <p:spPr>
          <a:xfrm>
            <a:off x="575800" y="6322471"/>
            <a:ext cx="11040300" cy="0"/>
          </a:xfrm>
          <a:prstGeom prst="straightConnector1">
            <a:avLst/>
          </a:prstGeom>
          <a:noFill/>
          <a:ln cap="flat" cmpd="sng" w="9525">
            <a:solidFill>
              <a:srgbClr val="C6C5C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5" name="Google Shape;145;g128e061f2de_0_109"/>
          <p:cNvSpPr txBox="1"/>
          <p:nvPr>
            <p:ph type="title"/>
          </p:nvPr>
        </p:nvSpPr>
        <p:spPr>
          <a:xfrm>
            <a:off x="415600" y="284933"/>
            <a:ext cx="11360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3700"/>
              <a:buFont typeface="Trebuchet MS"/>
              <a:buNone/>
              <a:defRPr>
                <a:solidFill>
                  <a:srgbClr val="56657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cxnSp>
        <p:nvCxnSpPr>
          <p:cNvPr id="146" name="Google Shape;146;g128e061f2de_0_109"/>
          <p:cNvCxnSpPr/>
          <p:nvPr/>
        </p:nvCxnSpPr>
        <p:spPr>
          <a:xfrm>
            <a:off x="575800" y="1002333"/>
            <a:ext cx="11040300" cy="0"/>
          </a:xfrm>
          <a:prstGeom prst="straightConnector1">
            <a:avLst/>
          </a:prstGeom>
          <a:noFill/>
          <a:ln cap="flat" cmpd="sng" w="9525">
            <a:solidFill>
              <a:srgbClr val="C6C5C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7" name="Google Shape;147;g128e061f2de_0_109">
            <a:hlinkClick action="ppaction://hlinkshowjump?jump=previousslide"/>
          </p:cNvPr>
          <p:cNvSpPr/>
          <p:nvPr/>
        </p:nvSpPr>
        <p:spPr>
          <a:xfrm rot="2700000">
            <a:off x="11348840" y="6420393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28e061f2de_0_109"/>
          <p:cNvSpPr/>
          <p:nvPr/>
        </p:nvSpPr>
        <p:spPr>
          <a:xfrm>
            <a:off x="579075" y="6315167"/>
            <a:ext cx="506400" cy="232800"/>
          </a:xfrm>
          <a:prstGeom prst="rect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128e061f2de_0_109">
            <a:hlinkClick action="ppaction://hlinkshowjump?jump=nextslide"/>
          </p:cNvPr>
          <p:cNvSpPr/>
          <p:nvPr/>
        </p:nvSpPr>
        <p:spPr>
          <a:xfrm rot="-8100000">
            <a:off x="11508840" y="6420194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128e061f2de_0_109"/>
          <p:cNvSpPr txBox="1"/>
          <p:nvPr>
            <p:ph idx="12" type="sldNum"/>
          </p:nvPr>
        </p:nvSpPr>
        <p:spPr>
          <a:xfrm>
            <a:off x="579067" y="6315167"/>
            <a:ext cx="506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g128e061f2de_0_109"/>
          <p:cNvSpPr txBox="1"/>
          <p:nvPr/>
        </p:nvSpPr>
        <p:spPr>
          <a:xfrm>
            <a:off x="9204248" y="6246912"/>
            <a:ext cx="2043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6C5C5"/>
                </a:solidFill>
                <a:latin typeface="Arial"/>
                <a:ea typeface="Arial"/>
                <a:cs typeface="Arial"/>
                <a:sym typeface="Arial"/>
              </a:rPr>
              <a:t>www.companyname.com</a:t>
            </a:r>
            <a:endParaRPr b="0" i="0" sz="1200" u="none" cap="none" strike="noStrike">
              <a:solidFill>
                <a:srgbClr val="C6C5C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9"/>
          <p:cNvSpPr txBox="1"/>
          <p:nvPr/>
        </p:nvSpPr>
        <p:spPr>
          <a:xfrm>
            <a:off x="1981200" y="6338813"/>
            <a:ext cx="71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2022 By Rikkei Academy - Rikkei Education -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bb26f517d_0_1"/>
          <p:cNvSpPr txBox="1"/>
          <p:nvPr>
            <p:ph type="ctrTitle"/>
          </p:nvPr>
        </p:nvSpPr>
        <p:spPr>
          <a:xfrm>
            <a:off x="1697674" y="2660574"/>
            <a:ext cx="8538008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</a:pPr>
            <a:r>
              <a:rPr lang="en-US" sz="3000"/>
              <a:t>Trigger</a:t>
            </a:r>
            <a:endParaRPr sz="3000"/>
          </a:p>
        </p:txBody>
      </p:sp>
      <p:sp>
        <p:nvSpPr>
          <p:cNvPr id="157" name="Google Shape;157;g11bb26f517d_0_1"/>
          <p:cNvSpPr txBox="1"/>
          <p:nvPr>
            <p:ph idx="2" type="body"/>
          </p:nvPr>
        </p:nvSpPr>
        <p:spPr>
          <a:xfrm>
            <a:off x="1562200" y="1974300"/>
            <a:ext cx="815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</a:pPr>
            <a:r>
              <a:rPr lang="en-US" sz="3000"/>
              <a:t>Session 13 :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bac9ab7f9_1_682"/>
          <p:cNvSpPr txBox="1"/>
          <p:nvPr>
            <p:ph idx="1" type="body"/>
          </p:nvPr>
        </p:nvSpPr>
        <p:spPr>
          <a:xfrm>
            <a:off x="1651450" y="1111600"/>
            <a:ext cx="9767400" cy="5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0000"/>
              </a:lnSpc>
              <a:spcBef>
                <a:spcPts val="260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>
                <a:solidFill>
                  <a:srgbClr val="333333"/>
                </a:solidFill>
              </a:rPr>
              <a:t>Khái niệm và đặc điểm</a:t>
            </a:r>
            <a:endParaRPr sz="2400">
              <a:solidFill>
                <a:srgbClr val="333333"/>
              </a:solidFill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260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>
                <a:solidFill>
                  <a:srgbClr val="333333"/>
                </a:solidFill>
              </a:rPr>
              <a:t>Cú phap</a:t>
            </a:r>
            <a:endParaRPr sz="2400">
              <a:solidFill>
                <a:srgbClr val="333333"/>
              </a:solidFill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260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>
                <a:solidFill>
                  <a:srgbClr val="333333"/>
                </a:solidFill>
              </a:rPr>
              <a:t>NEW và OLD</a:t>
            </a:r>
            <a:endParaRPr/>
          </a:p>
          <a:p>
            <a:pPr indent="-381000" lvl="0" marL="457200" rtl="0" algn="l">
              <a:lnSpc>
                <a:spcPct val="110000"/>
              </a:lnSpc>
              <a:spcBef>
                <a:spcPts val="260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>
                <a:solidFill>
                  <a:srgbClr val="333333"/>
                </a:solidFill>
              </a:rPr>
              <a:t>Ví dụ</a:t>
            </a:r>
            <a:endParaRPr sz="2400">
              <a:solidFill>
                <a:srgbClr val="333333"/>
              </a:solidFill>
            </a:endParaRPr>
          </a:p>
        </p:txBody>
      </p:sp>
      <p:sp>
        <p:nvSpPr>
          <p:cNvPr id="163" name="Google Shape;163;g11bac9ab7f9_1_682"/>
          <p:cNvSpPr txBox="1"/>
          <p:nvPr>
            <p:ph type="title"/>
          </p:nvPr>
        </p:nvSpPr>
        <p:spPr>
          <a:xfrm rot="5400000">
            <a:off x="-1686375" y="1500953"/>
            <a:ext cx="5085300" cy="18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</a:pPr>
            <a:r>
              <a:rPr lang="en-US"/>
              <a:t> NỘI DUNG</a:t>
            </a:r>
            <a:endParaRPr/>
          </a:p>
        </p:txBody>
      </p:sp>
      <p:pic>
        <p:nvPicPr>
          <p:cNvPr id="164" name="Google Shape;164;g11bac9ab7f9_1_6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63816" y="5111676"/>
            <a:ext cx="3515280" cy="3492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/>
              <a:t>1. Khái niệm và đặc điểm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793790" y="1963698"/>
            <a:ext cx="5402824" cy="1360866"/>
          </a:xfrm>
          <a:prstGeom prst="roundRect">
            <a:avLst>
              <a:gd fmla="val 7491" name="adj"/>
            </a:avLst>
          </a:prstGeom>
          <a:solidFill>
            <a:srgbClr val="FFF8F0"/>
          </a:solidFill>
          <a:ln cap="flat" cmpd="sng" w="22850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770930" y="1963698"/>
            <a:ext cx="65380" cy="1360866"/>
          </a:xfrm>
          <a:prstGeom prst="roundRect">
            <a:avLst>
              <a:gd fmla="val 88558" name="adj"/>
            </a:avLst>
          </a:prstGeom>
          <a:solidFill>
            <a:srgbClr val="D26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1077992" y="2179320"/>
            <a:ext cx="1723105" cy="3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Thủ tục tự động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077992" y="2596158"/>
            <a:ext cx="5045450" cy="728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Được kích hoạt tự động khi có các sự kiện: </a:t>
            </a:r>
            <a:r>
              <a:rPr b="0" i="0" lang="en-US" sz="1200" u="none" cap="none" strike="noStrike">
                <a:solidFill>
                  <a:srgbClr val="D2600F"/>
                </a:solidFill>
                <a:latin typeface="Open Sans"/>
                <a:ea typeface="Open Sans"/>
                <a:cs typeface="Open Sans"/>
                <a:sym typeface="Open Sans"/>
              </a:rPr>
              <a:t>INSERT, UPDATE, DELETE</a:t>
            </a: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trên bảng dữ liệu.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793790" y="4202697"/>
            <a:ext cx="5402824" cy="1365831"/>
          </a:xfrm>
          <a:prstGeom prst="roundRect">
            <a:avLst>
              <a:gd fmla="val 9488" name="adj"/>
            </a:avLst>
          </a:prstGeom>
          <a:solidFill>
            <a:srgbClr val="FFF8F0"/>
          </a:solidFill>
          <a:ln cap="flat" cmpd="sng" w="22850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770930" y="4202697"/>
            <a:ext cx="65380" cy="1365831"/>
          </a:xfrm>
          <a:prstGeom prst="roundRect">
            <a:avLst>
              <a:gd fmla="val 88558" name="adj"/>
            </a:avLst>
          </a:prstGeom>
          <a:solidFill>
            <a:srgbClr val="D26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1077992" y="4418320"/>
            <a:ext cx="1723105" cy="3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Mục đích chính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1077992" y="4835157"/>
            <a:ext cx="5045450" cy="364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Tự động hóa tác vụ, đảm bảo tính </a:t>
            </a:r>
            <a:r>
              <a:rPr b="0" i="0" lang="en-US" sz="1200" u="none" cap="none" strike="noStrike">
                <a:solidFill>
                  <a:srgbClr val="D2600F"/>
                </a:solidFill>
                <a:latin typeface="Open Sans"/>
                <a:ea typeface="Open Sans"/>
                <a:cs typeface="Open Sans"/>
                <a:sym typeface="Open Sans"/>
              </a:rPr>
              <a:t>toàn vẹn</a:t>
            </a: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và </a:t>
            </a:r>
            <a:r>
              <a:rPr b="0" i="0" lang="en-US" sz="1200" u="none" cap="none" strike="noStrike">
                <a:solidFill>
                  <a:srgbClr val="D2600F"/>
                </a:solidFill>
                <a:latin typeface="Open Sans"/>
                <a:ea typeface="Open Sans"/>
                <a:cs typeface="Open Sans"/>
                <a:sym typeface="Open Sans"/>
              </a:rPr>
              <a:t>nhất quán</a:t>
            </a: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dữ liệu.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503676" y="1958733"/>
            <a:ext cx="5402824" cy="1365831"/>
          </a:xfrm>
          <a:prstGeom prst="roundRect">
            <a:avLst>
              <a:gd fmla="val 9488" name="adj"/>
            </a:avLst>
          </a:prstGeom>
          <a:solidFill>
            <a:srgbClr val="FFF8F0"/>
          </a:solidFill>
          <a:ln cap="flat" cmpd="sng" w="22850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6480816" y="1958733"/>
            <a:ext cx="65380" cy="1365831"/>
          </a:xfrm>
          <a:prstGeom prst="roundRect">
            <a:avLst>
              <a:gd fmla="val 88558" name="adj"/>
            </a:avLst>
          </a:prstGeom>
          <a:solidFill>
            <a:srgbClr val="D26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787878" y="2174356"/>
            <a:ext cx="1723105" cy="3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Các loại Trigger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787878" y="2591193"/>
            <a:ext cx="5045450" cy="364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Có 2 loại chính: </a:t>
            </a:r>
            <a:r>
              <a:rPr b="1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BEFORE</a:t>
            </a: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(trước thao tác) và </a:t>
            </a:r>
            <a:r>
              <a:rPr b="1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AFTER</a:t>
            </a: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(sau thao tác).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526536" y="4202697"/>
            <a:ext cx="5402824" cy="1365831"/>
          </a:xfrm>
          <a:prstGeom prst="roundRect">
            <a:avLst>
              <a:gd fmla="val 9488" name="adj"/>
            </a:avLst>
          </a:prstGeom>
          <a:solidFill>
            <a:srgbClr val="FFF8F0"/>
          </a:solidFill>
          <a:ln cap="flat" cmpd="sng" w="22850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503676" y="4202697"/>
            <a:ext cx="65380" cy="1365831"/>
          </a:xfrm>
          <a:prstGeom prst="roundRect">
            <a:avLst>
              <a:gd fmla="val 88558" name="adj"/>
            </a:avLst>
          </a:prstGeom>
          <a:solidFill>
            <a:srgbClr val="D26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6810738" y="4418321"/>
            <a:ext cx="1723105" cy="3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Hoạt động ngầm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6810738" y="4835157"/>
            <a:ext cx="5045450" cy="364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Không cần gọi trực tiếp, giúp giảm </a:t>
            </a:r>
            <a:r>
              <a:rPr b="0" i="0" lang="en-US" sz="1200" u="none" cap="none" strike="noStrike">
                <a:solidFill>
                  <a:srgbClr val="D2600F"/>
                </a:solidFill>
                <a:latin typeface="Open Sans"/>
                <a:ea typeface="Open Sans"/>
                <a:cs typeface="Open Sans"/>
                <a:sym typeface="Open Sans"/>
              </a:rPr>
              <a:t>lỗi thủ công</a:t>
            </a:r>
            <a:r>
              <a:rPr b="0" i="0" lang="en-US" sz="12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và tăng hiệu quả.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/>
              <a:t>2. Cú pháp</a:t>
            </a:r>
            <a:endParaRPr/>
          </a:p>
        </p:txBody>
      </p:sp>
      <p:sp>
        <p:nvSpPr>
          <p:cNvPr id="191" name="Google Shape;191;p5"/>
          <p:cNvSpPr txBox="1"/>
          <p:nvPr>
            <p:ph idx="1" type="body"/>
          </p:nvPr>
        </p:nvSpPr>
        <p:spPr>
          <a:xfrm>
            <a:off x="1024812" y="1520889"/>
            <a:ext cx="11167200" cy="43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116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560"/>
              <a:buFont typeface="Arial"/>
              <a:buChar char="•"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Cú pháp:</a:t>
            </a:r>
            <a:br>
              <a:rPr lang="en-US" sz="2800">
                <a:latin typeface="Montserrat"/>
                <a:ea typeface="Montserrat"/>
                <a:cs typeface="Montserrat"/>
                <a:sym typeface="Montserrat"/>
              </a:rPr>
            </a:br>
            <a:endParaRPr b="1" i="0" sz="1800" u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7324525" y="2583650"/>
            <a:ext cx="4637400" cy="192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trigger_name</a:t>
            </a:r>
            <a:r>
              <a:rPr b="0" i="0" lang="en-US" sz="1400" u="none" cap="none" strike="noStrik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: Tên của trigger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BEFORE | AFTER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Chỉ định khi nào trigger được gọi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INSERT | UPDATE | DELETE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Hành động nào trigger được kích hoạt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table_name </a:t>
            </a:r>
            <a:r>
              <a:rPr b="0" i="0" lang="en-US" sz="1400" u="none" cap="none" strike="noStrike">
                <a:solidFill>
                  <a:srgbClr val="383A42"/>
                </a:solidFill>
                <a:latin typeface="Open Sans"/>
                <a:ea typeface="Open Sans"/>
                <a:cs typeface="Open Sans"/>
                <a:sym typeface="Open Sans"/>
              </a:rPr>
              <a:t>: Tên của bảng gắn với trigger</a:t>
            </a:r>
            <a:endParaRPr>
              <a:solidFill>
                <a:srgbClr val="383A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SIGNAL SQLSTATE</a:t>
            </a:r>
            <a:r>
              <a:rPr lang="en-US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Lệnh ném ra lỗi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7231223" y="2088911"/>
            <a:ext cx="8018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Ghi chú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024800" y="2396702"/>
            <a:ext cx="5733000" cy="2654100"/>
          </a:xfrm>
          <a:prstGeom prst="roundRect">
            <a:avLst>
              <a:gd fmla="val 1181" name="adj"/>
            </a:avLst>
          </a:prstGeom>
          <a:solidFill>
            <a:srgbClr val="F2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1228885" y="2549684"/>
            <a:ext cx="5404500" cy="20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  <a:t>CREATE TRIGGER trigger_name</a:t>
            </a:r>
            <a:b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  <a:t>{BEFORE | AFTER} {INSERT | UPDATE | DELETE}</a:t>
            </a:r>
            <a:b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  <a:t>ON table_name FOR EACH ROW</a:t>
            </a:r>
            <a:b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  <a:t> -- Các câu lệnh SQL</a:t>
            </a:r>
            <a:endParaRPr b="0" i="0" u="none" cap="none" strike="noStrike">
              <a:solidFill>
                <a:srgbClr val="2B2E3C"/>
              </a:solidFill>
              <a:highlight>
                <a:srgbClr val="F2EBE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  <a:t>   SIGNAL SQLSTATE ‘45000’ SET MESSAGE_TEXT = ‘DETAILS’ </a:t>
            </a:r>
            <a:b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u="none" cap="none" strike="noStrike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  <a:t>END;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024800" y="5226766"/>
            <a:ext cx="5733000" cy="550800"/>
          </a:xfrm>
          <a:prstGeom prst="roundRect">
            <a:avLst>
              <a:gd fmla="val 1181" name="adj"/>
            </a:avLst>
          </a:prstGeom>
          <a:solidFill>
            <a:srgbClr val="F2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1113350" y="5379782"/>
            <a:ext cx="54045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rgbClr val="2B2E3C"/>
                </a:solidFill>
                <a:highlight>
                  <a:srgbClr val="F2EBE3"/>
                </a:highlight>
                <a:latin typeface="Consolas"/>
                <a:ea typeface="Consolas"/>
                <a:cs typeface="Consolas"/>
                <a:sym typeface="Consolas"/>
              </a:rPr>
              <a:t>DROP TRIGGER trigger_name;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/>
              <a:t>3. NEW và OLD</a:t>
            </a:r>
            <a:endParaRPr/>
          </a:p>
        </p:txBody>
      </p:sp>
      <p:sp>
        <p:nvSpPr>
          <p:cNvPr id="203" name="Google Shape;203;p6"/>
          <p:cNvSpPr txBox="1"/>
          <p:nvPr>
            <p:ph idx="1" type="body"/>
          </p:nvPr>
        </p:nvSpPr>
        <p:spPr>
          <a:xfrm>
            <a:off x="1024812" y="1520889"/>
            <a:ext cx="11167187" cy="43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116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56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OLD</a:t>
            </a:r>
            <a:r>
              <a:rPr b="0" i="0" lang="en-US" sz="1800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 chỉ đến dòng dữ liệu đang tồn tại trước khi thực hiện thao tác chỉnh sửa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9116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560"/>
              <a:buFont typeface="Arial"/>
              <a:buChar char="•"/>
            </a:pPr>
            <a:r>
              <a:rPr b="1" lang="en-US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NEW </a:t>
            </a:r>
            <a:r>
              <a:rPr b="0" i="0" lang="en-US" sz="2000">
                <a:solidFill>
                  <a:srgbClr val="1B1B1B"/>
                </a:solidFill>
                <a:latin typeface="Open Sans"/>
                <a:ea typeface="Open Sans"/>
                <a:cs typeface="Open Sans"/>
                <a:sym typeface="Open Sans"/>
              </a:rPr>
              <a:t>chỉ đến dòng dữ liệu mới xuất hiện sau khi thực hiện thao tác chỉnh sửa.</a:t>
            </a:r>
            <a:endParaRPr b="1" sz="18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1" marL="603504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96"/>
              <a:buNone/>
            </a:pPr>
            <a:br>
              <a:rPr lang="en-US" sz="2800">
                <a:latin typeface="Montserrat"/>
                <a:ea typeface="Montserrat"/>
                <a:cs typeface="Montserrat"/>
                <a:sym typeface="Montserrat"/>
              </a:rPr>
            </a:br>
            <a:endParaRPr b="1" i="0" sz="1800" u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4" name="Google Shape;204;p6"/>
          <p:cNvGrpSpPr/>
          <p:nvPr/>
        </p:nvGrpSpPr>
        <p:grpSpPr>
          <a:xfrm>
            <a:off x="3004457" y="2855166"/>
            <a:ext cx="6222840" cy="3359021"/>
            <a:chOff x="5423585" y="794069"/>
            <a:chExt cx="5507284" cy="5164249"/>
          </a:xfrm>
        </p:grpSpPr>
        <p:sp>
          <p:nvSpPr>
            <p:cNvPr id="205" name="Google Shape;205;p6"/>
            <p:cNvSpPr/>
            <p:nvPr/>
          </p:nvSpPr>
          <p:spPr>
            <a:xfrm>
              <a:off x="5479407" y="794069"/>
              <a:ext cx="1029729" cy="1088906"/>
            </a:xfrm>
            <a:prstGeom prst="flowChartMultidocument">
              <a:avLst/>
            </a:prstGeom>
            <a:solidFill>
              <a:schemeClr val="accent2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Deleted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473098" y="4869412"/>
              <a:ext cx="1029729" cy="1088906"/>
            </a:xfrm>
            <a:prstGeom prst="flowChartMultidocument">
              <a:avLst/>
            </a:prstGeom>
            <a:solidFill>
              <a:schemeClr val="accent2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Inserted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9826362" y="2699824"/>
              <a:ext cx="986738" cy="1295477"/>
            </a:xfrm>
            <a:prstGeom prst="can">
              <a:avLst>
                <a:gd fmla="val 25000" name="adj"/>
              </a:avLst>
            </a:prstGeom>
            <a:solidFill>
              <a:schemeClr val="accent6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Database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423585" y="2776880"/>
              <a:ext cx="1128756" cy="1130720"/>
            </a:xfrm>
            <a:prstGeom prst="flowChartPredefinedProcess">
              <a:avLst/>
            </a:prstGeom>
            <a:solidFill>
              <a:schemeClr val="accent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Insert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Delete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Update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" name="Google Shape;209;p6"/>
            <p:cNvCxnSpPr/>
            <p:nvPr/>
          </p:nvCxnSpPr>
          <p:spPr>
            <a:xfrm rot="10800000">
              <a:off x="6003746" y="1796880"/>
              <a:ext cx="0" cy="980000"/>
            </a:xfrm>
            <a:prstGeom prst="straightConnector1">
              <a:avLst/>
            </a:prstGeom>
            <a:noFill/>
            <a:ln cap="flat" cmpd="sng" w="952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0" name="Google Shape;210;p6"/>
            <p:cNvCxnSpPr>
              <a:stCxn id="208" idx="2"/>
            </p:cNvCxnSpPr>
            <p:nvPr/>
          </p:nvCxnSpPr>
          <p:spPr>
            <a:xfrm>
              <a:off x="5987963" y="3907600"/>
              <a:ext cx="0" cy="970200"/>
            </a:xfrm>
            <a:prstGeom prst="straightConnector1">
              <a:avLst/>
            </a:prstGeom>
            <a:noFill/>
            <a:ln cap="flat" cmpd="sng" w="952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1" name="Google Shape;211;p6"/>
            <p:cNvSpPr txBox="1"/>
            <p:nvPr/>
          </p:nvSpPr>
          <p:spPr>
            <a:xfrm rot="-5400000">
              <a:off x="5775752" y="2130189"/>
              <a:ext cx="87132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Old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6"/>
            <p:cNvSpPr txBox="1"/>
            <p:nvPr/>
          </p:nvSpPr>
          <p:spPr>
            <a:xfrm rot="5400000">
              <a:off x="5736927" y="4173128"/>
              <a:ext cx="9489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New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" name="Google Shape;213;p6"/>
            <p:cNvCxnSpPr/>
            <p:nvPr/>
          </p:nvCxnSpPr>
          <p:spPr>
            <a:xfrm flipH="1" rot="10800000">
              <a:off x="6552341" y="3339212"/>
              <a:ext cx="832090" cy="2"/>
            </a:xfrm>
            <a:prstGeom prst="straightConnector1">
              <a:avLst/>
            </a:prstGeom>
            <a:noFill/>
            <a:ln cap="flat" cmpd="sng" w="952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4" name="Google Shape;214;p6"/>
            <p:cNvSpPr/>
            <p:nvPr/>
          </p:nvSpPr>
          <p:spPr>
            <a:xfrm>
              <a:off x="7391177" y="2319101"/>
              <a:ext cx="1327230" cy="523697"/>
            </a:xfrm>
            <a:prstGeom prst="flowChartProcess">
              <a:avLst/>
            </a:prstGeom>
            <a:solidFill>
              <a:schemeClr val="accent6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BEFORE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5" name="Google Shape;215;p6"/>
            <p:cNvCxnSpPr>
              <a:stCxn id="216" idx="3"/>
              <a:endCxn id="207" idx="2"/>
            </p:cNvCxnSpPr>
            <p:nvPr/>
          </p:nvCxnSpPr>
          <p:spPr>
            <a:xfrm>
              <a:off x="8613454" y="3347564"/>
              <a:ext cx="1212900" cy="0"/>
            </a:xfrm>
            <a:prstGeom prst="straightConnector1">
              <a:avLst/>
            </a:prstGeom>
            <a:noFill/>
            <a:ln cap="flat" cmpd="sng" w="952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6" name="Google Shape;216;p6"/>
            <p:cNvSpPr/>
            <p:nvPr/>
          </p:nvSpPr>
          <p:spPr>
            <a:xfrm>
              <a:off x="7391177" y="3095183"/>
              <a:ext cx="1222277" cy="504761"/>
            </a:xfrm>
            <a:prstGeom prst="flowChartProcess">
              <a:avLst/>
            </a:prstGeom>
            <a:solidFill>
              <a:schemeClr val="accent6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Logic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" name="Google Shape;217;p6"/>
            <p:cNvCxnSpPr>
              <a:stCxn id="216" idx="0"/>
              <a:endCxn id="214" idx="2"/>
            </p:cNvCxnSpPr>
            <p:nvPr/>
          </p:nvCxnSpPr>
          <p:spPr>
            <a:xfrm flipH="1" rot="10800000">
              <a:off x="8002316" y="2842883"/>
              <a:ext cx="52500" cy="252300"/>
            </a:xfrm>
            <a:prstGeom prst="straightConnector1">
              <a:avLst/>
            </a:prstGeom>
            <a:noFill/>
            <a:ln cap="flat" cmpd="sng" w="952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8" name="Google Shape;218;p6"/>
            <p:cNvCxnSpPr>
              <a:stCxn id="207" idx="3"/>
              <a:endCxn id="219" idx="0"/>
            </p:cNvCxnSpPr>
            <p:nvPr/>
          </p:nvCxnSpPr>
          <p:spPr>
            <a:xfrm>
              <a:off x="10319731" y="3995301"/>
              <a:ext cx="0" cy="346500"/>
            </a:xfrm>
            <a:prstGeom prst="straightConnector1">
              <a:avLst/>
            </a:prstGeom>
            <a:noFill/>
            <a:ln cap="flat" cmpd="sng" w="952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9" name="Google Shape;219;p6"/>
            <p:cNvSpPr/>
            <p:nvPr/>
          </p:nvSpPr>
          <p:spPr>
            <a:xfrm>
              <a:off x="9708592" y="4341705"/>
              <a:ext cx="1222277" cy="504761"/>
            </a:xfrm>
            <a:prstGeom prst="flowChartProcess">
              <a:avLst/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Logic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7436566" y="4341705"/>
              <a:ext cx="1222277" cy="504761"/>
            </a:xfrm>
            <a:prstGeom prst="flowChartProcess">
              <a:avLst/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After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1" name="Google Shape;221;p6"/>
            <p:cNvCxnSpPr>
              <a:stCxn id="219" idx="1"/>
              <a:endCxn id="220" idx="3"/>
            </p:cNvCxnSpPr>
            <p:nvPr/>
          </p:nvCxnSpPr>
          <p:spPr>
            <a:xfrm rot="10800000">
              <a:off x="8658892" y="4594086"/>
              <a:ext cx="1049700" cy="0"/>
            </a:xfrm>
            <a:prstGeom prst="straightConnector1">
              <a:avLst/>
            </a:prstGeom>
            <a:noFill/>
            <a:ln cap="flat" cmpd="sng" w="952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3. NEW và OLD</a:t>
            </a:r>
            <a:endParaRPr/>
          </a:p>
        </p:txBody>
      </p:sp>
      <p:sp>
        <p:nvSpPr>
          <p:cNvPr id="227" name="Google Shape;227;p7"/>
          <p:cNvSpPr txBox="1"/>
          <p:nvPr>
            <p:ph idx="1" type="body"/>
          </p:nvPr>
        </p:nvSpPr>
        <p:spPr>
          <a:xfrm>
            <a:off x="1024812" y="1520889"/>
            <a:ext cx="11167187" cy="43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46304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96"/>
              <a:buNone/>
            </a:pPr>
            <a:r>
              <a:rPr b="1" lang="en-US" sz="1400"/>
              <a:t>So sánh OLD và NEW</a:t>
            </a:r>
            <a:br>
              <a:rPr lang="en-US" sz="2800" u="sng">
                <a:latin typeface="Montserrat"/>
                <a:ea typeface="Montserrat"/>
                <a:cs typeface="Montserrat"/>
                <a:sym typeface="Montserrat"/>
              </a:rPr>
            </a:br>
            <a:endParaRPr b="1" i="0" sz="1800" u="sng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8" name="Google Shape;2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0376" y="2315425"/>
            <a:ext cx="10177657" cy="222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/>
              <a:t>4. Ví dụ</a:t>
            </a:r>
            <a:endParaRPr/>
          </a:p>
        </p:txBody>
      </p:sp>
      <p:sp>
        <p:nvSpPr>
          <p:cNvPr id="234" name="Google Shape;234;p8"/>
          <p:cNvSpPr txBox="1"/>
          <p:nvPr>
            <p:ph idx="1" type="body"/>
          </p:nvPr>
        </p:nvSpPr>
        <p:spPr>
          <a:xfrm>
            <a:off x="1024812" y="1520889"/>
            <a:ext cx="11167187" cy="43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603504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96"/>
              <a:buNone/>
            </a:pPr>
            <a:br>
              <a:rPr lang="en-US" sz="2800">
                <a:latin typeface="Montserrat"/>
                <a:ea typeface="Montserrat"/>
                <a:cs typeface="Montserrat"/>
                <a:sym typeface="Montserrat"/>
              </a:rPr>
            </a:br>
            <a:endParaRPr b="1" i="0" sz="1800" u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1024812" y="1923211"/>
            <a:ext cx="6988629" cy="2246769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 TRIGGER IF exists tg_after;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DELIMITER $$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CREATE TRIGGER tg_after_insert_student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AFFTER INSERT ON sinh_vien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FOR each row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BEGIN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UPDATE lop_hoc SET so_luong = so_luong + 1 WHERE id = new.lop_hoc_id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END $$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DELIMITER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5625" y="2624176"/>
            <a:ext cx="3730690" cy="1293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3224" y="4713861"/>
            <a:ext cx="4781579" cy="111777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 txBox="1"/>
          <p:nvPr/>
        </p:nvSpPr>
        <p:spPr>
          <a:xfrm>
            <a:off x="8039769" y="2187844"/>
            <a:ext cx="142539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Bảng lop_hoc: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7137919" y="4277529"/>
            <a:ext cx="1614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Bảng sinh_vien: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1024812" y="4713861"/>
            <a:ext cx="5519460" cy="52322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 dụ trên để tạo trigger khi thêm mới sinh viên sẽ tăng số lượng ở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bảng lop_hoc theo lop_hoc_id tương ứng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 txBox="1"/>
          <p:nvPr>
            <p:ph type="ctrTitle"/>
          </p:nvPr>
        </p:nvSpPr>
        <p:spPr>
          <a:xfrm>
            <a:off x="279991" y="3969209"/>
            <a:ext cx="9144000" cy="146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</a:pPr>
            <a:r>
              <a:rPr lang="en-US"/>
              <a:t>KẾT THÚC</a:t>
            </a:r>
            <a:endParaRPr/>
          </a:p>
        </p:txBody>
      </p:sp>
      <p:sp>
        <p:nvSpPr>
          <p:cNvPr id="246" name="Google Shape;246;p15"/>
          <p:cNvSpPr txBox="1"/>
          <p:nvPr>
            <p:ph idx="1" type="subTitle"/>
          </p:nvPr>
        </p:nvSpPr>
        <p:spPr>
          <a:xfrm>
            <a:off x="279991" y="543362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HỌC VIỆN ĐÀO TẠO LẬP TRÌNH CHẤT LƯỢNG NHẬT BẢN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QuangND</dc:creator>
</cp:coreProperties>
</file>